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74" r:id="rId7"/>
    <p:sldId id="275" r:id="rId8"/>
    <p:sldId id="27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D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619"/>
  </p:normalViewPr>
  <p:slideViewPr>
    <p:cSldViewPr snapToGrid="0">
      <p:cViewPr>
        <p:scale>
          <a:sx n="75" d="100"/>
          <a:sy n="75" d="100"/>
        </p:scale>
        <p:origin x="166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9EC76B-C2F3-F125-1E95-9DFBF2D3C4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6FD47-A05F-FB75-F64D-7CE45965F8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E5A00-8D22-4501-8A7A-33938902DF8F}" type="datetimeFigureOut">
              <a:rPr lang="en-DK" smtClean="0"/>
              <a:t>16/03/2026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7ABEA-C0A6-235A-7697-25879AFEF1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DK"/>
              <a:t># / 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71E34-F523-7E3A-3120-3DE015FAEB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030F6-5BBB-401D-A027-A7688999A35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540838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0350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Isak</a:t>
            </a:r>
          </a:p>
          <a:p>
            <a:r>
              <a:rPr lang="en-US"/>
              <a:t>---</a:t>
            </a:r>
          </a:p>
          <a:p>
            <a:r>
              <a:rPr lang="en-US"/>
              <a:t>Kort intro-</a:t>
            </a:r>
            <a:r>
              <a:rPr lang="en-US" err="1"/>
              <a:t>hej</a:t>
            </a:r>
            <a:r>
              <a:rPr lang="en-US"/>
              <a:t>-</a:t>
            </a:r>
            <a:r>
              <a:rPr lang="en-US" err="1"/>
              <a:t>hej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Isak</a:t>
            </a:r>
          </a:p>
          <a:p>
            <a:r>
              <a:rPr lang="en-US"/>
              <a:t>---</a:t>
            </a:r>
          </a:p>
          <a:p>
            <a:pPr marL="171450" indent="-171450">
              <a:buFontTx/>
              <a:buChar char="-"/>
            </a:pPr>
            <a:r>
              <a:rPr lang="en-US"/>
              <a:t>Vi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fået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opgave</a:t>
            </a:r>
            <a:r>
              <a:rPr lang="en-US"/>
              <a:t> at </a:t>
            </a:r>
            <a:r>
              <a:rPr lang="en-US" err="1"/>
              <a:t>hjælpe</a:t>
            </a:r>
            <a:r>
              <a:rPr lang="en-US"/>
              <a:t> </a:t>
            </a:r>
            <a:r>
              <a:rPr lang="en-US" err="1"/>
              <a:t>TechLab</a:t>
            </a:r>
            <a:r>
              <a:rPr lang="en-US"/>
              <a:t> med at lave The Ultimate Loan Tracker</a:t>
            </a:r>
          </a:p>
          <a:p>
            <a:pPr marL="171450" indent="-171450">
              <a:buFontTx/>
              <a:buChar char="-"/>
            </a:pPr>
            <a:r>
              <a:rPr lang="en-US"/>
              <a:t>Vi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efter</a:t>
            </a:r>
            <a:r>
              <a:rPr lang="en-US"/>
              <a:t> </a:t>
            </a:r>
            <a:r>
              <a:rPr lang="en-US" err="1"/>
              <a:t>bedste</a:t>
            </a:r>
            <a:r>
              <a:rPr lang="en-US"/>
              <a:t> </a:t>
            </a:r>
            <a:r>
              <a:rPr lang="en-US" err="1"/>
              <a:t>evne</a:t>
            </a:r>
            <a:r>
              <a:rPr lang="en-US"/>
              <a:t> </a:t>
            </a:r>
            <a:r>
              <a:rPr lang="en-US" err="1"/>
              <a:t>forsøgt</a:t>
            </a:r>
            <a:r>
              <a:rPr lang="en-US"/>
              <a:t> at </a:t>
            </a:r>
            <a:r>
              <a:rPr lang="en-US" err="1"/>
              <a:t>tænke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udviklere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Vi </a:t>
            </a:r>
            <a:r>
              <a:rPr lang="en-US" err="1"/>
              <a:t>vil</a:t>
            </a:r>
            <a:r>
              <a:rPr lang="en-US"/>
              <a:t> I </a:t>
            </a:r>
            <a:r>
              <a:rPr lang="en-US" err="1"/>
              <a:t>løbet</a:t>
            </a:r>
            <a:r>
              <a:rPr lang="en-US"/>
              <a:t> </a:t>
            </a:r>
            <a:r>
              <a:rPr lang="en-US" err="1"/>
              <a:t>af</a:t>
            </a:r>
            <a:r>
              <a:rPr lang="en-US"/>
              <a:t> </a:t>
            </a:r>
            <a:r>
              <a:rPr lang="en-US" err="1"/>
              <a:t>præsentationen</a:t>
            </a:r>
            <a:r>
              <a:rPr lang="en-US"/>
              <a:t> </a:t>
            </a:r>
            <a:r>
              <a:rPr lang="en-US" err="1"/>
              <a:t>argumentere</a:t>
            </a:r>
            <a:r>
              <a:rPr lang="en-US"/>
              <a:t> for, </a:t>
            </a:r>
            <a:r>
              <a:rPr lang="en-US" err="1"/>
              <a:t>hvordan</a:t>
            </a:r>
            <a:r>
              <a:rPr lang="en-US"/>
              <a:t> vi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taget</a:t>
            </a:r>
            <a:r>
              <a:rPr lang="en-US"/>
              <a:t> </a:t>
            </a:r>
            <a:r>
              <a:rPr lang="en-US" err="1"/>
              <a:t>højde</a:t>
            </a:r>
            <a:r>
              <a:rPr lang="en-US"/>
              <a:t> for </a:t>
            </a:r>
            <a:r>
              <a:rPr lang="en-US" err="1"/>
              <a:t>og</a:t>
            </a:r>
            <a:r>
              <a:rPr lang="en-US"/>
              <a:t>/</a:t>
            </a:r>
            <a:r>
              <a:rPr lang="en-US" err="1"/>
              <a:t>eller</a:t>
            </a:r>
            <a:r>
              <a:rPr lang="en-US"/>
              <a:t> </a:t>
            </a:r>
            <a:r>
              <a:rPr lang="en-US" err="1"/>
              <a:t>inkorporeret</a:t>
            </a:r>
            <a:r>
              <a:rPr lang="en-US"/>
              <a:t> </a:t>
            </a:r>
            <a:r>
              <a:rPr lang="en-US" err="1"/>
              <a:t>ovenstående</a:t>
            </a:r>
            <a:r>
              <a:rPr lang="en-US"/>
              <a:t> </a:t>
            </a:r>
            <a:r>
              <a:rPr lang="en-US" err="1"/>
              <a:t>punkter</a:t>
            </a:r>
            <a:r>
              <a:rPr lang="en-US"/>
              <a:t> I </a:t>
            </a:r>
            <a:r>
              <a:rPr lang="en-US" err="1"/>
              <a:t>vores</a:t>
            </a:r>
            <a:r>
              <a:rPr lang="en-US"/>
              <a:t> </a:t>
            </a:r>
            <a:r>
              <a:rPr lang="en-US" err="1"/>
              <a:t>løsning</a:t>
            </a: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Obs:</a:t>
            </a:r>
            <a:br>
              <a:rPr lang="da-DK" dirty="0"/>
            </a:br>
            <a:r>
              <a:rPr lang="da-DK" dirty="0"/>
              <a:t>Er customers stakeholders?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075118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Obs. Skal ”closed-day logic” være i opportunities?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66874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Isak, Nick &amp; Patrick &lt;3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0FE0784-5E23-A1F1-A2D1-62579ABD766A}"/>
              </a:ext>
            </a:extLst>
          </p:cNvPr>
          <p:cNvSpPr/>
          <p:nvPr userDrawn="1"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6A0A9AC-E8C1-C2D2-1606-F930AECBB1C0}"/>
              </a:ext>
            </a:extLst>
          </p:cNvPr>
          <p:cNvSpPr/>
          <p:nvPr userDrawn="1"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AD601DB-8120-0DAF-C3BA-49C4769E19F7}"/>
              </a:ext>
            </a:extLst>
          </p:cNvPr>
          <p:cNvSpPr/>
          <p:nvPr userDrawn="1"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9DF4934-243D-E6CD-5B9F-48B1E0E88B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A53152D8-D950-E97D-88EF-70B17B437143}"/>
              </a:ext>
            </a:extLst>
          </p:cNvPr>
          <p:cNvSpPr/>
          <p:nvPr userDrawn="1"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 København</a:t>
            </a:r>
            <a:endParaRPr lang="en-US" sz="130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3D09393-C847-B161-99D6-593B0F9B71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C229E2D-6856-4A11-8A11-86ECEFC4A8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‹#›</a:t>
            </a:fld>
            <a:endParaRPr lang="en-DK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7ED538-24D5-32CB-D396-4D3933ACA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9743F-4706-0D4C-0FCC-9B5FEBBBE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a-DK" dirty="0"/>
              <a:t>&lt;#/#&gt;</a:t>
            </a:r>
            <a:endParaRPr lang="en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rickClemmensen/AP_CS_SEM1_HARRY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Booking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92608" y="162763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8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Harry’s Salon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92608" y="2487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3ABB5"/>
                </a:solidFill>
                <a:latin typeface="Calibri" pitchFamily="34" charset="0"/>
                <a:cs typeface="Calibri" pitchFamily="34" charset="-120"/>
              </a:rPr>
              <a:t>Single user booking system for barbershops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" y="3081528"/>
            <a:ext cx="83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8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6: Isak, Nick, Patrick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849" y="3337560"/>
            <a:ext cx="8365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https://github.com/PatrickClemmensen/AP_CS_SEM1_HARRYS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" y="36438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 err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</a:t>
            </a: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København</a:t>
            </a:r>
            <a:endParaRPr lang="en-US" sz="13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11" name="AutoShape 2">
            <a:extLst>
              <a:ext uri="{FF2B5EF4-FFF2-40B4-BE49-F238E27FC236}">
                <a16:creationId xmlns:a16="http://schemas.microsoft.com/office/drawing/2014/main" id="{2491E4DB-9709-6536-7EA9-992F26710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K"/>
          </a:p>
        </p:txBody>
      </p:sp>
      <p:pic>
        <p:nvPicPr>
          <p:cNvPr id="1030" name="Picture 6" descr="Download GitHub Logo in SVG Vector or PNG File Format - Logo.wine">
            <a:extLst>
              <a:ext uri="{FF2B5EF4-FFF2-40B4-BE49-F238E27FC236}">
                <a16:creationId xmlns:a16="http://schemas.microsoft.com/office/drawing/2014/main" id="{392F5A3B-B407-CA06-E009-3505B731B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354" y="3276764"/>
            <a:ext cx="569629" cy="37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9C9CA796-D1A4-ACB0-DA73-346822C8A4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360F3691-69B6-45D9-BFDC-87492A06AC7E}" type="slidenum">
              <a:rPr lang="en-DK" smtClean="0"/>
              <a:t>1</a:t>
            </a:fld>
            <a:endParaRPr lang="en-D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>
                <a:solidFill>
                  <a:srgbClr val="0038A8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Agenda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3300934-167D-88C3-4EDA-77766768D120}"/>
              </a:ext>
            </a:extLst>
          </p:cNvPr>
          <p:cNvSpPr/>
          <p:nvPr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 København</a:t>
            </a:r>
            <a:endParaRPr lang="en-US" sz="13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7C5DB-CB2B-B72C-951B-06F3850256CB}"/>
              </a:ext>
            </a:extLst>
          </p:cNvPr>
          <p:cNvSpPr txBox="1"/>
          <p:nvPr/>
        </p:nvSpPr>
        <p:spPr>
          <a:xfrm>
            <a:off x="292608" y="704088"/>
            <a:ext cx="5029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da-DK" b="1" dirty="0"/>
              <a:t>A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da-DK" b="1" dirty="0"/>
              <a:t>B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da-DK" b="1" dirty="0"/>
              <a:t>C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da-DK" b="1" dirty="0"/>
              <a:t>D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DK" b="1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05EE82D-F455-DE0A-C4F2-F29CD2DA0F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360F3691-69B6-45D9-BFDC-87492A06AC7E}" type="slidenum">
              <a:rPr lang="en-DK" smtClean="0"/>
              <a:t>2</a:t>
            </a:fld>
            <a:endParaRPr lang="en-DK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771780-AB59-5C5B-E20D-57119E01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3</a:t>
            </a:fld>
            <a:endParaRPr lang="en-DK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DBAC83C-94D8-9900-6A39-1609950F93B7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442C0B-1496-25E5-4066-5F15D15F5CA7}"/>
              </a:ext>
            </a:extLst>
          </p:cNvPr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0038A8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Stakeholder analysis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9A66936-4CA0-C6A7-373A-1BB8693DEC6A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cs typeface="Calibri" pitchFamily="34" charset="-120"/>
              </a:rPr>
              <a:t>Power-Interest Matrix – Harry’s</a:t>
            </a:r>
            <a:endParaRPr 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8D970-8640-C9CE-857F-5C104225B7EE}"/>
              </a:ext>
            </a:extLst>
          </p:cNvPr>
          <p:cNvSpPr txBox="1"/>
          <p:nvPr/>
        </p:nvSpPr>
        <p:spPr>
          <a:xfrm>
            <a:off x="141687" y="1260629"/>
            <a:ext cx="3687676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700" b="1" dirty="0"/>
              <a:t>Harry – </a:t>
            </a:r>
            <a:r>
              <a:rPr lang="da-DK" sz="1700" dirty="0"/>
              <a:t>Involve in Sprint review, </a:t>
            </a:r>
            <a:br>
              <a:rPr lang="da-DK" sz="1700" dirty="0"/>
            </a:br>
            <a:r>
              <a:rPr lang="en-GB" sz="1700" dirty="0"/>
              <a:t>primary decision-maker on scope</a:t>
            </a:r>
          </a:p>
          <a:p>
            <a:endParaRPr lang="en-GB" sz="1700" b="1" dirty="0"/>
          </a:p>
          <a:p>
            <a:r>
              <a:rPr lang="en-GB" sz="1700" b="1" dirty="0"/>
              <a:t>Revisor – </a:t>
            </a:r>
            <a:r>
              <a:rPr lang="en-GB" sz="1700" dirty="0"/>
              <a:t>deliver financial view cleanly,</a:t>
            </a:r>
            <a:br>
              <a:rPr lang="en-GB" sz="1700" dirty="0"/>
            </a:br>
            <a:r>
              <a:rPr lang="en-GB" sz="1700" dirty="0"/>
              <a:t>keep interface simple</a:t>
            </a:r>
          </a:p>
          <a:p>
            <a:endParaRPr lang="en-GB" sz="1700" b="1" dirty="0"/>
          </a:p>
          <a:p>
            <a:r>
              <a:rPr lang="da-DK" sz="1700" b="1" dirty="0"/>
              <a:t>Harriet – </a:t>
            </a:r>
            <a:r>
              <a:rPr lang="da-DK" sz="1700" dirty="0"/>
              <a:t>demo each sprint,</a:t>
            </a:r>
            <a:br>
              <a:rPr lang="da-DK" sz="1700" dirty="0"/>
            </a:br>
            <a:r>
              <a:rPr lang="da-DK" sz="1700" dirty="0"/>
              <a:t>ensure booking flow works for daily use</a:t>
            </a:r>
            <a:endParaRPr lang="en-DK" sz="17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5AF20-444D-69D4-BE58-C5500BC39B9A}"/>
              </a:ext>
            </a:extLst>
          </p:cNvPr>
          <p:cNvSpPr txBox="1"/>
          <p:nvPr/>
        </p:nvSpPr>
        <p:spPr>
          <a:xfrm>
            <a:off x="220195" y="3328873"/>
            <a:ext cx="3105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Harriet handles the majority of incoming booking calls after school hours — UI clarity in the booking flow is critical to her daily efficiency."</a:t>
            </a:r>
            <a:endParaRPr lang="en-DK" sz="10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89CFE1-4852-9310-9069-4F1125281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009" y="300858"/>
            <a:ext cx="5640938" cy="423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3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C7BC0-C229-605C-9B69-72CB63A85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4</a:t>
            </a:fld>
            <a:endParaRPr lang="en-DK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7ADCC74-0FA6-24D5-4B5E-59A23C2FC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5037" y="475488"/>
            <a:ext cx="6283941" cy="4300653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978CAF26-43FF-2BDF-4BDD-EF6A6B4E6B8C}"/>
              </a:ext>
            </a:extLst>
          </p:cNvPr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0038A8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F90A249-B190-7914-D70F-2E400D063289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Harry’s Salon</a:t>
            </a:r>
            <a:endParaRPr 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ED382-2FEF-EE37-3E59-DBC0853D26EA}"/>
              </a:ext>
            </a:extLst>
          </p:cNvPr>
          <p:cNvSpPr txBox="1"/>
          <p:nvPr/>
        </p:nvSpPr>
        <p:spPr>
          <a:xfrm>
            <a:off x="6249142" y="2813765"/>
            <a:ext cx="2266208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50" dirty="0"/>
              <a:t>— Adoption resistance if UI is confusing</a:t>
            </a:r>
            <a:br>
              <a:rPr lang="en-GB" sz="1150" dirty="0"/>
            </a:br>
            <a:r>
              <a:rPr lang="en-GB" sz="1150" dirty="0"/>
              <a:t>— Data loss if file persistence fails</a:t>
            </a:r>
            <a:br>
              <a:rPr lang="en-GB" sz="1150" dirty="0"/>
            </a:br>
            <a:r>
              <a:rPr lang="en-GB" sz="1150" dirty="0"/>
              <a:t>— Scope creep from nice-to-haves</a:t>
            </a:r>
            <a:br>
              <a:rPr lang="en-GB" sz="1150" dirty="0"/>
            </a:br>
            <a:endParaRPr lang="en-DK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8F563-DE38-7DEA-6644-05D91CF487C7}"/>
              </a:ext>
            </a:extLst>
          </p:cNvPr>
          <p:cNvSpPr txBox="1"/>
          <p:nvPr/>
        </p:nvSpPr>
        <p:spPr>
          <a:xfrm>
            <a:off x="3807791" y="2813765"/>
            <a:ext cx="237921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50" dirty="0"/>
              <a:t>— Digital records enable statistics</a:t>
            </a:r>
            <a:br>
              <a:rPr lang="en-GB" sz="1150" dirty="0"/>
            </a:br>
            <a:r>
              <a:rPr lang="en-GB" sz="1150" dirty="0"/>
              <a:t>— Foundation for future online booking</a:t>
            </a:r>
            <a:br>
              <a:rPr lang="en-GB" sz="1150" dirty="0"/>
            </a:br>
            <a:r>
              <a:rPr lang="en-GB" sz="1150" dirty="0"/>
              <a:t>— Payment history improves forecasting</a:t>
            </a:r>
            <a:br>
              <a:rPr lang="en-GB" sz="1150" dirty="0"/>
            </a:br>
            <a:r>
              <a:rPr lang="en-GB" sz="1150" dirty="0"/>
              <a:t>— Closed-day logic reduces errors</a:t>
            </a:r>
            <a:endParaRPr lang="en-DK" sz="11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569360-CD5A-17D5-23FC-88231CC67B97}"/>
              </a:ext>
            </a:extLst>
          </p:cNvPr>
          <p:cNvSpPr txBox="1"/>
          <p:nvPr/>
        </p:nvSpPr>
        <p:spPr>
          <a:xfrm>
            <a:off x="3839592" y="1007953"/>
            <a:ext cx="237921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50" dirty="0"/>
              <a:t>— Console-based / low technical barrier</a:t>
            </a:r>
          </a:p>
          <a:p>
            <a:r>
              <a:rPr lang="en-GB" sz="1150" dirty="0"/>
              <a:t>— Revisor gets direct access to financial records, no manual cross-checking</a:t>
            </a:r>
          </a:p>
          <a:p>
            <a:r>
              <a:rPr lang="en-GB" sz="1150" dirty="0"/>
              <a:t>— Both Harry/Harriet can manage bookings</a:t>
            </a:r>
          </a:p>
          <a:p>
            <a:r>
              <a:rPr lang="en-GB" sz="1150" dirty="0"/>
              <a:t>— File persistence </a:t>
            </a:r>
            <a:endParaRPr lang="en-DK" sz="11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8B4BD4-E18C-B8F4-2BD0-426D724734F2}"/>
              </a:ext>
            </a:extLst>
          </p:cNvPr>
          <p:cNvSpPr txBox="1"/>
          <p:nvPr/>
        </p:nvSpPr>
        <p:spPr>
          <a:xfrm>
            <a:off x="6192638" y="1003852"/>
            <a:ext cx="2379216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50" dirty="0"/>
              <a:t>— Low technical literacy of users</a:t>
            </a:r>
          </a:p>
          <a:p>
            <a:r>
              <a:rPr lang="en-GB" sz="1150" dirty="0"/>
              <a:t>— No existing digital data to migrate</a:t>
            </a:r>
          </a:p>
          <a:p>
            <a:r>
              <a:rPr lang="en-GB" sz="1150" dirty="0"/>
              <a:t>— Single laptop, no backup system</a:t>
            </a:r>
          </a:p>
          <a:p>
            <a:r>
              <a:rPr lang="en-GB" sz="1150" dirty="0"/>
              <a:t>— Manual calendar as fallback risk</a:t>
            </a:r>
          </a:p>
          <a:p>
            <a:r>
              <a:rPr lang="en-GB" sz="1150" dirty="0"/>
              <a:t>— No network, offline only</a:t>
            </a:r>
            <a:endParaRPr lang="en-DK" sz="1150" dirty="0"/>
          </a:p>
        </p:txBody>
      </p:sp>
    </p:spTree>
    <p:extLst>
      <p:ext uri="{BB962C8B-B14F-4D97-AF65-F5344CB8AC3E}">
        <p14:creationId xmlns:p14="http://schemas.microsoft.com/office/powerpoint/2010/main" val="359725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3716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i="1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Questions?</a:t>
            </a:r>
            <a:endParaRPr lang="en-US" sz="5800"/>
          </a:p>
        </p:txBody>
      </p:sp>
      <p:sp>
        <p:nvSpPr>
          <p:cNvPr id="3" name="Text 1"/>
          <p:cNvSpPr/>
          <p:nvPr/>
        </p:nvSpPr>
        <p:spPr>
          <a:xfrm>
            <a:off x="292608" y="2468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F8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292608" y="3154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F8EDCA"/>
                </a:solidFill>
                <a:latin typeface="Calibri"/>
                <a:ea typeface="Calibri"/>
                <a:cs typeface="Calibri"/>
              </a:rPr>
              <a:t>Group 6: Isak, Nick, Patrick</a:t>
            </a:r>
            <a:endParaRPr lang="en-US" sz="1200">
              <a:solidFill>
                <a:srgbClr val="33ABB5"/>
              </a:solidFill>
              <a:latin typeface="Calibri"/>
              <a:ea typeface="Calibri"/>
              <a:cs typeface="Calibri"/>
            </a:endParaRPr>
          </a:p>
          <a:p>
            <a:r>
              <a:rPr lang="en-US" sz="1100" i="1">
                <a:solidFill>
                  <a:srgbClr val="33ABB5"/>
                </a:solidFill>
                <a:latin typeface="Calibri"/>
                <a:ea typeface="Calibri"/>
                <a:cs typeface="Calibri"/>
              </a:rPr>
              <a:t>[·  github.com/your-org/your-repo ]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 København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0" y="4663440"/>
            <a:ext cx="731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348da0-b19e-4965-8681-ede4b8123f5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4B90DD14E74FA4B8A0B61928CFDD39C" ma:contentTypeVersion="5" ma:contentTypeDescription="Opret et nyt dokument." ma:contentTypeScope="" ma:versionID="d27c0801c3e7a91114674d60a33c94d1">
  <xsd:schema xmlns:xsd="http://www.w3.org/2001/XMLSchema" xmlns:xs="http://www.w3.org/2001/XMLSchema" xmlns:p="http://schemas.microsoft.com/office/2006/metadata/properties" xmlns:ns3="ec348da0-b19e-4965-8681-ede4b8123f50" targetNamespace="http://schemas.microsoft.com/office/2006/metadata/properties" ma:root="true" ma:fieldsID="df88f89f19b9542b8d977b595c3bbff0" ns3:_="">
    <xsd:import namespace="ec348da0-b19e-4965-8681-ede4b8123f5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48da0-b19e-4965-8681-ede4b8123f5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17FA80-5B56-4410-8139-DF244F34DEC0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ec348da0-b19e-4965-8681-ede4b8123f5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AA4995-F2FF-4432-ACA4-BBA94215DDC0}">
  <ds:schemaRefs>
    <ds:schemaRef ds:uri="ec348da0-b19e-4965-8681-ede4b8123f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B99400-01CC-4757-8B20-AF0C952C51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342</Words>
  <Application>Microsoft Office PowerPoint</Application>
  <PresentationFormat>On-screen Show (16:9)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Serif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Library in Innovation TechLab</dc:title>
  <dc:subject>PptxGenJS Presentation</dc:subject>
  <dc:creator>PptxGenJS</dc:creator>
  <cp:lastModifiedBy>Patrick Hørlykke Clemmensen</cp:lastModifiedBy>
  <cp:revision>5</cp:revision>
  <dcterms:created xsi:type="dcterms:W3CDTF">2026-02-19T13:59:31Z</dcterms:created>
  <dcterms:modified xsi:type="dcterms:W3CDTF">2026-03-16T15:32:44Z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2026-02-21T21:02:27Z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6f272160-c7d2-4651-a78e-783f7af64556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0x01010094B90DD14E74FA4B8A0B61928CFDD39C</vt:lpwstr>
  </property>
</Properties>
</file>